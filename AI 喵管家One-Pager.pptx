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0691495" cy="7559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0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77FF"/>
    <a:srgbClr val="505050"/>
    <a:srgbClr val="C0C0C0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380"/>
        <p:guide pos="33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6686" y="1143000"/>
            <a:ext cx="4364627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51486" y="1008000"/>
            <a:ext cx="8595029" cy="283351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1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051486" y="3924850"/>
            <a:ext cx="8595029" cy="162311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645" spc="200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3637" y="670677"/>
            <a:ext cx="9621254" cy="7778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33637" y="1642961"/>
            <a:ext cx="9621254" cy="524636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46161" y="4242331"/>
            <a:ext cx="6814134" cy="84529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85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746161" y="5087622"/>
            <a:ext cx="6814134" cy="95640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98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0419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3637" y="670677"/>
            <a:ext cx="9621254" cy="7778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33637" y="1654866"/>
            <a:ext cx="4540651" cy="523445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623713" y="1654866"/>
            <a:ext cx="4540651" cy="523445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3637" y="670677"/>
            <a:ext cx="9621254" cy="7778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33637" y="1575496"/>
            <a:ext cx="4685901" cy="42066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3637" y="2043780"/>
            <a:ext cx="4685901" cy="484554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469472" y="1567260"/>
            <a:ext cx="4685901" cy="42066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20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469472" y="2043780"/>
            <a:ext cx="4685901" cy="484554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3637" y="670677"/>
            <a:ext cx="9621254" cy="77782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33637" y="1714394"/>
            <a:ext cx="4590012" cy="50796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76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570033" y="1714394"/>
            <a:ext cx="4584857" cy="507968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76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8977100" y="1008000"/>
            <a:ext cx="915708" cy="554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08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02034" y="1008000"/>
            <a:ext cx="8042446" cy="5544000"/>
          </a:xfrm>
        </p:spPr>
        <p:txBody>
          <a:bodyPr vert="eaVert" lIns="46800" tIns="46800" rIns="46800" bIns="46800"/>
          <a:lstStyle>
            <a:lvl1pPr marL="252095" indent="-252095">
              <a:spcAft>
                <a:spcPts val="1000"/>
              </a:spcAft>
              <a:defRPr spc="300"/>
            </a:lvl1pPr>
            <a:lvl2pPr marL="756285" indent="-252095">
              <a:defRPr spc="300"/>
            </a:lvl2pPr>
            <a:lvl3pPr marL="1259840" indent="-252095">
              <a:defRPr spc="300"/>
            </a:lvl3pPr>
            <a:lvl4pPr marL="1764030" indent="-252095">
              <a:defRPr spc="300"/>
            </a:lvl4pPr>
            <a:lvl5pPr marL="2268220" indent="-25209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33637" y="853228"/>
            <a:ext cx="9624411" cy="604403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051486" y="2738268"/>
            <a:ext cx="8595029" cy="112308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6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051486" y="3924850"/>
            <a:ext cx="8595029" cy="51987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64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33637" y="670677"/>
            <a:ext cx="9621254" cy="77782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533637" y="1642961"/>
            <a:ext cx="9621254" cy="524636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36795" y="6960756"/>
            <a:ext cx="2368211" cy="349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610207" y="6960756"/>
            <a:ext cx="3473377" cy="349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7786679" y="6960756"/>
            <a:ext cx="2368211" cy="349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07745" rtl="0" eaLnBrk="1" fontAlgn="auto" latinLnBrk="0" hangingPunct="1">
        <a:lnSpc>
          <a:spcPct val="100000"/>
        </a:lnSpc>
        <a:spcBef>
          <a:spcPct val="0"/>
        </a:spcBef>
        <a:buNone/>
        <a:defRPr sz="397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52095" indent="-252095" algn="l" defTabSz="100774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9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756285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774190" algn="l"/>
          <a:tab pos="1774190" algn="l"/>
          <a:tab pos="1774190" algn="l"/>
          <a:tab pos="1774190" algn="l"/>
        </a:tabLst>
        <a:defRPr sz="17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259840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7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764030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5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268220" indent="-252095" algn="l" defTabSz="100774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5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77177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596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155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3710" indent="-252095" algn="l" defTabSz="100774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9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774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193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12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387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06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250" algn="l" defTabSz="1007745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51099" y="418012"/>
            <a:ext cx="4840056" cy="63757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2400" b="1">
                <a:latin typeface="+mj-ea"/>
                <a:ea typeface="+mj-ea"/>
                <a:cs typeface="+mj-ea"/>
              </a:rPr>
              <a:t>AI </a:t>
            </a:r>
            <a:r>
              <a:rPr lang="zh-CN" altLang="en-US" sz="2400" b="1">
                <a:latin typeface="+mj-ea"/>
                <a:ea typeface="+mj-ea"/>
                <a:cs typeface="+mj-ea"/>
              </a:rPr>
              <a:t>喵管家（</a:t>
            </a:r>
            <a:r>
              <a:rPr lang="en-US" altLang="zh-CN" sz="2400" b="1">
                <a:latin typeface="+mj-ea"/>
                <a:ea typeface="+mj-ea"/>
                <a:cs typeface="+mj-ea"/>
              </a:rPr>
              <a:t>AI Meow Butler</a:t>
            </a:r>
            <a:r>
              <a:rPr lang="zh-CN" altLang="en-US" sz="2400" b="1">
                <a:latin typeface="+mj-ea"/>
                <a:ea typeface="+mj-ea"/>
                <a:cs typeface="+mj-ea"/>
              </a:rPr>
              <a:t>）</a:t>
            </a:r>
            <a:endParaRPr lang="zh-CN" altLang="en-US" sz="2400" b="1">
              <a:latin typeface="+mj-ea"/>
              <a:ea typeface="+mj-ea"/>
              <a:cs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1099" y="977429"/>
            <a:ext cx="4839371" cy="38322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1600">
                <a:solidFill>
                  <a:srgbClr val="C0C0C0"/>
                </a:solidFill>
                <a:latin typeface="+mj-ea"/>
                <a:ea typeface="+mj-ea"/>
                <a:cs typeface="+mj-ea"/>
              </a:rPr>
              <a:t>Slogan</a:t>
            </a:r>
            <a:r>
              <a:rPr lang="zh-CN" altLang="en-US" sz="1600">
                <a:solidFill>
                  <a:srgbClr val="C0C0C0"/>
                </a:solidFill>
                <a:latin typeface="+mj-ea"/>
                <a:ea typeface="+mj-ea"/>
                <a:cs typeface="+mj-ea"/>
              </a:rPr>
              <a:t>：有</a:t>
            </a:r>
            <a:r>
              <a:rPr lang="en-US" altLang="zh-CN" sz="1600">
                <a:solidFill>
                  <a:srgbClr val="C0C0C0"/>
                </a:solidFill>
                <a:latin typeface="+mj-ea"/>
                <a:ea typeface="+mj-ea"/>
                <a:cs typeface="+mj-ea"/>
              </a:rPr>
              <a:t> AI </a:t>
            </a:r>
            <a:r>
              <a:rPr lang="zh-CN" altLang="en-US" sz="1600">
                <a:solidFill>
                  <a:srgbClr val="C0C0C0"/>
                </a:solidFill>
                <a:latin typeface="+mj-ea"/>
                <a:ea typeface="+mj-ea"/>
                <a:cs typeface="+mj-ea"/>
              </a:rPr>
              <a:t>喵陪，猫咪不拆家，吃饭也准时</a:t>
            </a:r>
            <a:endParaRPr lang="zh-CN" altLang="en-US" sz="1600">
              <a:solidFill>
                <a:srgbClr val="C0C0C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4060" y="1592580"/>
            <a:ext cx="4757420" cy="1119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>
                <a:solidFill>
                  <a:srgbClr val="1677FF"/>
                </a:solidFill>
                <a:latin typeface="+mj-ea"/>
                <a:ea typeface="+mj-ea"/>
                <a:cs typeface="+mj-ea"/>
              </a:rPr>
              <a:t>•</a:t>
            </a:r>
            <a:r>
              <a:rPr lang="en-US" altLang="zh-CN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sz="1400" b="1">
                <a:latin typeface="+mj-ea"/>
                <a:ea typeface="+mj-ea"/>
                <a:cs typeface="+mj-ea"/>
              </a:rPr>
              <a:t>核心痛点</a:t>
            </a:r>
            <a:r>
              <a:rPr lang="en-US" altLang="zh-CN" sz="1400" b="1">
                <a:latin typeface="+mj-ea"/>
                <a:ea typeface="+mj-ea"/>
                <a:cs typeface="+mj-ea"/>
              </a:rPr>
              <a:t> </a:t>
            </a:r>
            <a:r>
              <a:rPr lang="zh-CN" altLang="en-US" sz="1400" b="1">
                <a:latin typeface="+mj-ea"/>
                <a:ea typeface="+mj-ea"/>
                <a:cs typeface="+mj-ea"/>
              </a:rPr>
              <a:t>：</a:t>
            </a:r>
            <a:endParaRPr lang="zh-CN" altLang="en-US" sz="1400" b="1">
              <a:latin typeface="+mj-ea"/>
              <a:ea typeface="+mj-ea"/>
              <a:cs typeface="+mj-ea"/>
            </a:endParaRPr>
          </a:p>
          <a:p>
            <a:pPr algn="l" defTabSz="266700">
              <a:lnSpc>
                <a:spcPct val="140000"/>
              </a:lnSpc>
              <a:buClrTx/>
              <a:buSzTx/>
              <a:buNone/>
            </a:pP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  <a:sym typeface="+mn-ea"/>
              </a:rPr>
              <a:t>• 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上班族白天离家，猫咪独处精力过剩，乱抓家具、拆家搞破坏 ；</a:t>
            </a:r>
            <a:endParaRPr lang="en-US" altLang="zh-CN" sz="1200">
              <a:solidFill>
                <a:srgbClr val="505050"/>
              </a:solidFill>
              <a:latin typeface="+mj-ea"/>
              <a:ea typeface="+mj-ea"/>
              <a:cs typeface="+mj-ea"/>
            </a:endParaRPr>
          </a:p>
          <a:p>
            <a:pPr algn="l" defTabSz="266700">
              <a:lnSpc>
                <a:spcPct val="140000"/>
              </a:lnSpc>
              <a:buClrTx/>
              <a:buSzTx/>
              <a:buNone/>
            </a:pP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  <a:sym typeface="+mn-ea"/>
              </a:rPr>
              <a:t>• 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喂食无法精准定时，猫咪饮食不规律，影响肠胃健康 ；</a:t>
            </a:r>
            <a:endParaRPr lang="en-US" altLang="zh-CN" sz="1200">
              <a:solidFill>
                <a:srgbClr val="505050"/>
              </a:solidFill>
              <a:latin typeface="+mj-ea"/>
              <a:ea typeface="+mj-ea"/>
              <a:cs typeface="+mj-ea"/>
            </a:endParaRPr>
          </a:p>
          <a:p>
            <a:pPr algn="l" defTabSz="266700">
              <a:lnSpc>
                <a:spcPct val="140000"/>
              </a:lnSpc>
              <a:buClrTx/>
              <a:buSzTx/>
              <a:buNone/>
            </a:pP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  <a:sym typeface="+mn-ea"/>
              </a:rPr>
              <a:t>• 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无法实时掌握猫咪状态，异常行为难以及时发现和干预 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；</a:t>
            </a:r>
            <a:endParaRPr lang="zh-CN" altLang="en-US" sz="1200">
              <a:solidFill>
                <a:srgbClr val="50505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4060" y="2759710"/>
            <a:ext cx="4757420" cy="22599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>
                <a:solidFill>
                  <a:srgbClr val="1677FF"/>
                </a:solidFill>
                <a:latin typeface="+mj-ea"/>
                <a:ea typeface="+mj-ea"/>
                <a:cs typeface="+mj-ea"/>
              </a:rPr>
              <a:t>•</a:t>
            </a:r>
            <a:r>
              <a:rPr lang="en-US" altLang="zh-CN" sz="1400" b="1">
                <a:solidFill>
                  <a:srgbClr val="00B0F0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sz="1400" b="1">
                <a:latin typeface="+mj-ea"/>
                <a:ea typeface="+mj-ea"/>
                <a:cs typeface="+mj-ea"/>
              </a:rPr>
              <a:t>核心解决方案</a:t>
            </a:r>
            <a:r>
              <a:rPr lang="en-US" altLang="zh-CN" sz="1400" b="1">
                <a:latin typeface="+mj-ea"/>
                <a:ea typeface="+mj-ea"/>
                <a:cs typeface="+mj-ea"/>
              </a:rPr>
              <a:t> </a:t>
            </a:r>
            <a:r>
              <a:rPr lang="zh-CN" altLang="en-US" sz="1400" b="1">
                <a:latin typeface="+mj-ea"/>
                <a:ea typeface="+mj-ea"/>
                <a:cs typeface="+mj-ea"/>
              </a:rPr>
              <a:t>：</a:t>
            </a:r>
            <a:endParaRPr lang="zh-CN" altLang="en-US" sz="1400" b="1">
              <a:latin typeface="+mj-ea"/>
              <a:ea typeface="+mj-ea"/>
              <a:cs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•</a:t>
            </a:r>
            <a:r>
              <a:rPr lang="en-US" altLang="zh-CN" sz="1200" b="1">
                <a:solidFill>
                  <a:srgbClr val="00B0F0"/>
                </a:solidFill>
                <a:latin typeface="+mj-ea"/>
                <a:ea typeface="+mj-ea"/>
                <a:cs typeface="+mj-ea"/>
                <a:sym typeface="+mn-ea"/>
              </a:rPr>
              <a:t> </a:t>
            </a:r>
            <a:r>
              <a:rPr lang="en-US" altLang="zh-CN" sz="1200" b="1">
                <a:solidFill>
                  <a:srgbClr val="1677FF"/>
                </a:solidFill>
                <a:latin typeface="+mj-ea"/>
                <a:ea typeface="+mj-ea"/>
                <a:cs typeface="+mj-ea"/>
              </a:rPr>
              <a:t>AI </a:t>
            </a:r>
            <a:r>
              <a:rPr lang="zh-CN" altLang="en-US" sz="1200" b="1">
                <a:solidFill>
                  <a:srgbClr val="1677FF"/>
                </a:solidFill>
                <a:latin typeface="+mj-ea"/>
                <a:ea typeface="+mj-ea"/>
                <a:cs typeface="+mj-ea"/>
              </a:rPr>
              <a:t>智能逗猫互动</a:t>
            </a:r>
            <a:r>
              <a:rPr lang="zh-CN" altLang="en-US" sz="12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：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基于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 </a:t>
            </a:r>
            <a:r>
              <a:rPr lang="en-US" altLang="zh-CN" sz="120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RandomForest 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行为分类模型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 + </a:t>
            </a:r>
            <a:r>
              <a:rPr lang="en-US" altLang="zh-CN" sz="120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YOLOv8 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动作识别，判定猫咪无聊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/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精力旺盛状态，自动触发激光逗猫，消耗过剩精力减少拆家。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 </a:t>
            </a:r>
            <a:endParaRPr lang="en-US" altLang="zh-CN" sz="1200">
              <a:solidFill>
                <a:srgbClr val="505050"/>
              </a:solidFill>
              <a:latin typeface="+mj-ea"/>
              <a:ea typeface="+mj-ea"/>
              <a:cs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•</a:t>
            </a:r>
            <a:r>
              <a:rPr lang="en-US" altLang="zh-CN" sz="1200" b="1">
                <a:solidFill>
                  <a:srgbClr val="00B0F0"/>
                </a:solidFill>
                <a:latin typeface="+mj-ea"/>
                <a:ea typeface="+mj-ea"/>
                <a:cs typeface="+mj-ea"/>
                <a:sym typeface="+mn-ea"/>
              </a:rPr>
              <a:t> </a:t>
            </a:r>
            <a:r>
              <a:rPr lang="en-US" altLang="zh-CN" sz="1200" b="1">
                <a:solidFill>
                  <a:srgbClr val="1677FF"/>
                </a:solidFill>
                <a:latin typeface="+mj-ea"/>
                <a:ea typeface="+mj-ea"/>
                <a:cs typeface="+mj-ea"/>
              </a:rPr>
              <a:t>AI 智能精准投喂</a:t>
            </a:r>
            <a:r>
              <a:rPr lang="en-US" altLang="zh-CN" sz="12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：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采用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 </a:t>
            </a:r>
            <a:r>
              <a:rPr lang="en-US" altLang="zh-CN" sz="120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ARIMA 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时间序列预测模型，学习猫咪进食规律，结合主人作息动态定时定量投喂，保障饮食规律。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 </a:t>
            </a:r>
            <a:endParaRPr lang="en-US" altLang="zh-CN" sz="1200">
              <a:solidFill>
                <a:srgbClr val="505050"/>
              </a:solidFill>
              <a:latin typeface="+mj-ea"/>
              <a:ea typeface="+mj-ea"/>
              <a:cs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•</a:t>
            </a:r>
            <a:r>
              <a:rPr lang="en-US" altLang="zh-CN" sz="1200" b="1">
                <a:solidFill>
                  <a:srgbClr val="00B0F0"/>
                </a:solidFill>
                <a:latin typeface="+mj-ea"/>
                <a:ea typeface="+mj-ea"/>
                <a:cs typeface="+mj-ea"/>
                <a:sym typeface="+mn-ea"/>
              </a:rPr>
              <a:t> </a:t>
            </a:r>
            <a:r>
              <a:rPr lang="en-US" altLang="zh-CN" sz="1200" b="1">
                <a:solidFill>
                  <a:srgbClr val="1677FF"/>
                </a:solidFill>
                <a:latin typeface="+mj-ea"/>
                <a:ea typeface="+mj-ea"/>
                <a:cs typeface="+mj-ea"/>
              </a:rPr>
              <a:t>AI 行为异常预警</a:t>
            </a:r>
            <a:r>
              <a:rPr lang="en-US" altLang="zh-CN" sz="1200" b="1">
                <a:solidFill>
                  <a:schemeClr val="tx1"/>
                </a:solidFill>
                <a:latin typeface="+mj-ea"/>
                <a:ea typeface="+mj-ea"/>
                <a:cs typeface="+mj-ea"/>
              </a:rPr>
              <a:t>：</a:t>
            </a:r>
            <a:r>
              <a:rPr lang="en-US" altLang="zh-CN" sz="120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IsolationForest 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异常检测模型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+</a:t>
            </a:r>
            <a:r>
              <a:rPr lang="zh-CN" altLang="en-US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规则阈值双重校验，识别抓挠过多、进食不足等异常，及时推送预警提醒。</a:t>
            </a:r>
            <a:r>
              <a:rPr lang="en-US" altLang="zh-CN" sz="120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 </a:t>
            </a:r>
            <a:endParaRPr lang="en-US" altLang="zh-CN" sz="1200">
              <a:solidFill>
                <a:srgbClr val="50505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5330" y="5188585"/>
            <a:ext cx="4756150" cy="1315720"/>
          </a:xfrm>
          <a:prstGeom prst="rect">
            <a:avLst/>
          </a:prstGeom>
        </p:spPr>
        <p:txBody>
          <a:bodyPr>
            <a:noAutofit/>
          </a:bodyPr>
          <a:p>
            <a:pPr marL="0" algn="l" defTabSz="914400">
              <a:buClrTx/>
              <a:buSzTx/>
              <a:buFontTx/>
            </a:pPr>
            <a:r>
              <a:rPr lang="en-US" altLang="zh-CN" sz="1400" b="1">
                <a:solidFill>
                  <a:srgbClr val="1677FF"/>
                </a:solidFill>
                <a:latin typeface="+mj-ea"/>
                <a:ea typeface="+mj-ea"/>
                <a:cs typeface="+mj-ea"/>
                <a:sym typeface="+mn-ea"/>
              </a:rPr>
              <a:t>•</a:t>
            </a:r>
            <a:r>
              <a:rPr lang="en-US" altLang="zh-CN" sz="1400" b="1">
                <a:solidFill>
                  <a:srgbClr val="00B0F0"/>
                </a:solidFill>
                <a:latin typeface="+mj-ea"/>
                <a:ea typeface="+mj-ea"/>
                <a:cs typeface="+mj-ea"/>
                <a:sym typeface="+mn-ea"/>
              </a:rPr>
              <a:t> </a:t>
            </a:r>
            <a:r>
              <a:rPr lang="en-US" altLang="zh-CN" sz="1400" b="1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AI 全流程参与：</a:t>
            </a:r>
            <a:endParaRPr lang="en-US" altLang="zh-CN" sz="1400" b="1">
              <a:solidFill>
                <a:srgbClr val="00B0F0"/>
              </a:solidFill>
              <a:latin typeface="+mj-ea"/>
              <a:ea typeface="+mj-ea"/>
              <a:cs typeface="+mj-ea"/>
              <a:sym typeface="+mn-ea"/>
            </a:endParaRPr>
          </a:p>
          <a:p>
            <a:pPr marL="0" indent="0" algn="l" defTabSz="2667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• 动作识别：</a:t>
            </a:r>
            <a:r>
              <a:rPr lang="en-US" altLang="zh-CN" sz="1200" i="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YOLOv8</a:t>
            </a: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 精准识别猫抓家具/蹭物体行为 </a:t>
            </a:r>
            <a:endParaRPr lang="en-US" altLang="zh-CN" sz="1200" i="0">
              <a:solidFill>
                <a:srgbClr val="505050"/>
              </a:solidFill>
              <a:latin typeface="+mj-ea"/>
              <a:ea typeface="+mj-ea"/>
              <a:cs typeface="+mj-ea"/>
            </a:endParaRPr>
          </a:p>
          <a:p>
            <a:pPr marL="0" indent="0" algn="l" defTabSz="2667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• 状态分析：</a:t>
            </a:r>
            <a:r>
              <a:rPr lang="en-US" altLang="zh-CN" sz="1200" i="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RandomForest</a:t>
            </a: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 判定猫咪情绪/行为状态 </a:t>
            </a:r>
            <a:endParaRPr lang="en-US" altLang="zh-CN" sz="1200" i="0">
              <a:solidFill>
                <a:srgbClr val="505050"/>
              </a:solidFill>
              <a:latin typeface="+mj-ea"/>
              <a:ea typeface="+mj-ea"/>
              <a:cs typeface="+mj-ea"/>
            </a:endParaRPr>
          </a:p>
          <a:p>
            <a:pPr marL="0" indent="0" algn="l" defTabSz="2667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• 投喂预测：</a:t>
            </a:r>
            <a:r>
              <a:rPr lang="en-US" altLang="zh-CN" sz="1200" i="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ARIMA</a:t>
            </a: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 生成个性化动态投喂计划</a:t>
            </a:r>
            <a:endParaRPr lang="en-US" altLang="zh-CN" sz="1200" i="0">
              <a:solidFill>
                <a:srgbClr val="505050"/>
              </a:solidFill>
              <a:latin typeface="+mj-ea"/>
              <a:ea typeface="+mj-ea"/>
              <a:cs typeface="+mj-ea"/>
            </a:endParaRPr>
          </a:p>
          <a:p>
            <a:pPr marL="0" indent="0" algn="l" defTabSz="26670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• 异常检测：</a:t>
            </a:r>
            <a:r>
              <a:rPr lang="en-US" altLang="zh-CN" sz="1200" i="0">
                <a:solidFill>
                  <a:srgbClr val="1677FF"/>
                </a:solidFill>
                <a:latin typeface="+mj-ea"/>
                <a:ea typeface="+mj-ea"/>
                <a:cs typeface="+mj-ea"/>
              </a:rPr>
              <a:t>IsolationForest</a:t>
            </a: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 识别猫咪行为异常</a:t>
            </a:r>
            <a:endParaRPr lang="en-US" altLang="zh-CN" sz="1200" i="0">
              <a:solidFill>
                <a:srgbClr val="505050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35330" y="6597015"/>
            <a:ext cx="5080000" cy="420370"/>
          </a:xfrm>
          <a:prstGeom prst="rect">
            <a:avLst/>
          </a:prstGeom>
        </p:spPr>
        <p:txBody>
          <a:bodyPr>
            <a:no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400" b="1">
                <a:solidFill>
                  <a:srgbClr val="1677FF"/>
                </a:solidFill>
                <a:latin typeface="+mj-ea"/>
                <a:ea typeface="+mj-ea"/>
                <a:cs typeface="+mj-ea"/>
                <a:sym typeface="+mn-ea"/>
              </a:rPr>
              <a:t>•</a:t>
            </a:r>
            <a:r>
              <a:rPr lang="en-US" altLang="zh-CN" sz="1400" b="1">
                <a:solidFill>
                  <a:srgbClr val="00B0F0"/>
                </a:solidFill>
                <a:latin typeface="+mj-ea"/>
                <a:ea typeface="+mj-ea"/>
                <a:cs typeface="+mj-ea"/>
                <a:sym typeface="+mn-ea"/>
              </a:rPr>
              <a:t> </a:t>
            </a:r>
            <a:r>
              <a:rPr lang="en-US" altLang="zh-CN" sz="1400" b="1">
                <a:solidFill>
                  <a:schemeClr val="tx1"/>
                </a:solidFill>
                <a:latin typeface="+mj-ea"/>
                <a:ea typeface="+mj-ea"/>
                <a:cs typeface="+mj-ea"/>
                <a:sym typeface="+mn-ea"/>
              </a:rPr>
              <a:t>目标用户 ：</a:t>
            </a:r>
            <a:r>
              <a:rPr lang="en-US" altLang="zh-CN" sz="1200" i="0">
                <a:solidFill>
                  <a:srgbClr val="505050"/>
                </a:solidFill>
                <a:latin typeface="+mj-ea"/>
                <a:ea typeface="+mj-ea"/>
                <a:cs typeface="+mj-ea"/>
              </a:rPr>
              <a:t>养宠上班族、经常出差的猫主人</a:t>
            </a:r>
            <a:endParaRPr lang="zh-CN" altLang="en-US" sz="1600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图片 24" descr="产品外观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3840" y="165735"/>
            <a:ext cx="3178810" cy="1787525"/>
          </a:xfrm>
          <a:prstGeom prst="rect">
            <a:avLst/>
          </a:prstGeom>
        </p:spPr>
      </p:pic>
      <p:pic>
        <p:nvPicPr>
          <p:cNvPr id="27" name="图片 26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840" y="1953260"/>
            <a:ext cx="3177540" cy="1787525"/>
          </a:xfrm>
          <a:prstGeom prst="rect">
            <a:avLst/>
          </a:prstGeom>
        </p:spPr>
      </p:pic>
      <p:pic>
        <p:nvPicPr>
          <p:cNvPr id="28" name="图片 27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40" y="3740785"/>
            <a:ext cx="3176905" cy="1786890"/>
          </a:xfrm>
          <a:prstGeom prst="rect">
            <a:avLst/>
          </a:prstGeom>
        </p:spPr>
      </p:pic>
      <p:pic>
        <p:nvPicPr>
          <p:cNvPr id="2" name="图片 1" descr="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840" y="5527675"/>
            <a:ext cx="3178810" cy="17875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WPS 演示</Application>
  <PresentationFormat>宽屏</PresentationFormat>
  <Paragraphs>22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巴卫</cp:lastModifiedBy>
  <cp:revision>157</cp:revision>
  <dcterms:created xsi:type="dcterms:W3CDTF">2019-06-19T02:08:00Z</dcterms:created>
  <dcterms:modified xsi:type="dcterms:W3CDTF">2026-02-01T18:25:48Z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7D311B802EF24AE09AFC4DD7475AAF1C_13</vt:lpwstr>
  </property>
</Properties>
</file>